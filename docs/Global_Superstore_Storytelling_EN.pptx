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8617a636d94648" /><Relationship Type="http://schemas.openxmlformats.org/officeDocument/2006/relationships/extended-properties" Target="/docProps/app.xml" Id="Rd45a89bf4f224e49" /><Relationship Type="http://schemas.openxmlformats.org/officeDocument/2006/relationships/officeDocument" Target="/ppt/presentation.xml" Id="R69646c94ee5c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48d28a6b2943fb"/>
  </p:sldMasterIdLst>
  <p:notesMasterIdLst>
    <p:notesMasterId xmlns:r="http://schemas.openxmlformats.org/officeDocument/2006/relationships" r:id="R692de7ca4fc046b6"/>
  </p:notesMasterIdLst>
  <p:sldIdLst>
    <p:sldId xmlns:r="http://schemas.openxmlformats.org/officeDocument/2006/relationships" id="256" r:id="Rd06db39c4e344ae5"/>
    <p:sldId xmlns:r="http://schemas.openxmlformats.org/officeDocument/2006/relationships" id="257" r:id="R49ffea42db0f4c61"/>
    <p:sldId xmlns:r="http://schemas.openxmlformats.org/officeDocument/2006/relationships" id="258" r:id="R9c829452f7534355"/>
    <p:sldId xmlns:r="http://schemas.openxmlformats.org/officeDocument/2006/relationships" id="259" r:id="R81aff4bbd4544030"/>
    <p:sldId xmlns:r="http://schemas.openxmlformats.org/officeDocument/2006/relationships" id="260" r:id="Rb274b01ef6c748e7"/>
    <p:sldId xmlns:r="http://schemas.openxmlformats.org/officeDocument/2006/relationships" id="261" r:id="R9b2403fb0f034a30"/>
    <p:sldId xmlns:r="http://schemas.openxmlformats.org/officeDocument/2006/relationships" id="262" r:id="R44935ae0e0924e7e"/>
    <p:sldId xmlns:r="http://schemas.openxmlformats.org/officeDocument/2006/relationships" id="263" r:id="R001201c7e4fa4dd1"/>
    <p:sldId xmlns:r="http://schemas.openxmlformats.org/officeDocument/2006/relationships" id="264" r:id="R5a0fd1942b5941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ad9de862af46b1" /><Relationship Type="http://schemas.openxmlformats.org/officeDocument/2006/relationships/slideMaster" Target="/ppt/slideMasters/slideMaster1.xml" Id="R5448d28a6b2943fb" /><Relationship Type="http://schemas.openxmlformats.org/officeDocument/2006/relationships/notesMaster" Target="/ppt/notesMasters/notesMaster1.xml" Id="R692de7ca4fc046b6" /><Relationship Type="http://schemas.openxmlformats.org/officeDocument/2006/relationships/presProps" Target="/ppt/presProps.xml" Id="R9796168293194bad" /><Relationship Type="http://schemas.openxmlformats.org/officeDocument/2006/relationships/tableStyles" Target="/ppt/tableStyles.xml" Id="R57d70999655c4992" /><Relationship Type="http://schemas.openxmlformats.org/officeDocument/2006/relationships/slide" Target="/ppt/slides/slide1.xml" Id="Rd06db39c4e344ae5" /><Relationship Type="http://schemas.openxmlformats.org/officeDocument/2006/relationships/slide" Target="/ppt/slides/slide2.xml" Id="R49ffea42db0f4c61" /><Relationship Type="http://schemas.openxmlformats.org/officeDocument/2006/relationships/slide" Target="/ppt/slides/slide3.xml" Id="R9c829452f7534355" /><Relationship Type="http://schemas.openxmlformats.org/officeDocument/2006/relationships/slide" Target="/ppt/slides/slide4.xml" Id="R81aff4bbd4544030" /><Relationship Type="http://schemas.openxmlformats.org/officeDocument/2006/relationships/slide" Target="/ppt/slides/slide5.xml" Id="Rb274b01ef6c748e7" /><Relationship Type="http://schemas.openxmlformats.org/officeDocument/2006/relationships/slide" Target="/ppt/slides/slide6.xml" Id="R9b2403fb0f034a30" /><Relationship Type="http://schemas.openxmlformats.org/officeDocument/2006/relationships/slide" Target="/ppt/slides/slide7.xml" Id="R44935ae0e0924e7e" /><Relationship Type="http://schemas.openxmlformats.org/officeDocument/2006/relationships/slide" Target="/ppt/slides/slide8.xml" Id="R001201c7e4fa4dd1" /><Relationship Type="http://schemas.openxmlformats.org/officeDocument/2006/relationships/slide" Target="/ppt/slides/slide9.xml" Id="R5a0fd1942b5941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b7408d2b854d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0e89080cd14bc3" /><Relationship Type="http://schemas.openxmlformats.org/officeDocument/2006/relationships/notesMaster" Target="/ppt/notesMasters/notesMaster1.xml" Id="R62fc017393c444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2ef56f18b44acd" /><Relationship Type="http://schemas.openxmlformats.org/officeDocument/2006/relationships/notesMaster" Target="/ppt/notesMasters/notesMaster1.xml" Id="Rf49dc1b6adcc45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a4a2e99da246dd" /><Relationship Type="http://schemas.openxmlformats.org/officeDocument/2006/relationships/notesMaster" Target="/ppt/notesMasters/notesMaster1.xml" Id="R95e1e91e019543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a7383c837d406b" /><Relationship Type="http://schemas.openxmlformats.org/officeDocument/2006/relationships/notesMaster" Target="/ppt/notesMasters/notesMaster1.xml" Id="R898d7565841849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afdde0000140de" /><Relationship Type="http://schemas.openxmlformats.org/officeDocument/2006/relationships/notesMaster" Target="/ppt/notesMasters/notesMaster1.xml" Id="Rda850dc9fe1a42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8521f058ca41e2" /><Relationship Type="http://schemas.openxmlformats.org/officeDocument/2006/relationships/notesMaster" Target="/ppt/notesMasters/notesMaster1.xml" Id="R6f36974a93644f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6dbfcc7998407d" /><Relationship Type="http://schemas.openxmlformats.org/officeDocument/2006/relationships/notesMaster" Target="/ppt/notesMasters/notesMaster1.xml" Id="R00848a318ea24c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e26a97b5374496" /><Relationship Type="http://schemas.openxmlformats.org/officeDocument/2006/relationships/notesMaster" Target="/ppt/notesMasters/notesMaster1.xml" Id="R6a2d356a507b48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df0758c102429f" /><Relationship Type="http://schemas.openxmlformats.org/officeDocument/2006/relationships/notesMaster" Target="/ppt/notesMasters/notesMaster1.xml" Id="R8905b7672ed143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opening: “We started with a simple question: how can order data lead to better, more profitable decisions?”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around four questions: market, profit, shipping and prediction. Together they define the full analytical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for the counts: database/Superstore.sql. Speaking cue: “We start with several source tables and build one analytical model.”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database/design/star-schema.md. Speaking cue: “Instead of ambiguous joins, each dimension filters FactSales through a clear path.”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 source: models/   model-test/csv5csv.csv. Sales values are shown in millions of dollars. Message: APAC is the largest market by Sales in this snapshot.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 source: models/   model-test/csv5csv.csv. Message: Technology has the highest recorded Profit; Standard Class averages 5 days.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   model-test/shipmode_test3.ipynb. F1 values come from the classification report in that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project's outputs in management language: market, profit, shipping and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cue: “Next, we will open up each of these four paths through the project's dashboard and analysis.”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20e664ccc42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68bb32b43541bf" /><Relationship Type="http://schemas.openxmlformats.org/officeDocument/2006/relationships/slideLayout" Target="/ppt/slideLayouts/slideLayout1.xml" Id="R1b233cba696d47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233cba696d47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2e69ef32c4fc6" /><Relationship Type="http://schemas.openxmlformats.org/officeDocument/2006/relationships/image" Target="/ppt/media/image.png" Id="R24b9c9db890c4ded" /><Relationship Type="http://schemas.openxmlformats.org/officeDocument/2006/relationships/notesSlide" Target="/ppt/notesSlides/notesSlide1.xml" Id="Rb649158e7e7f41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ea47b686c48e5" /><Relationship Type="http://schemas.openxmlformats.org/officeDocument/2006/relationships/notesSlide" Target="/ppt/notesSlides/notesSlide2.xml" Id="Rd21b24b6c4cb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ea351e8f84389" /><Relationship Type="http://schemas.openxmlformats.org/officeDocument/2006/relationships/notesSlide" Target="/ppt/notesSlides/notesSlide3.xml" Id="R4a800af55f2940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0be803a3440ef" /><Relationship Type="http://schemas.openxmlformats.org/officeDocument/2006/relationships/notesSlide" Target="/ppt/notesSlides/notesSlide4.xml" Id="R99e38a8cfcb449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593eb7ed846d8" /><Relationship Type="http://schemas.openxmlformats.org/officeDocument/2006/relationships/chart" Target="/ppt/slides/charts/chart1.xml" Id="Rc2a02f72c78c4a7c" /><Relationship Type="http://schemas.openxmlformats.org/officeDocument/2006/relationships/notesSlide" Target="/ppt/notesSlides/notesSlide5.xml" Id="R280508bb1bbf40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3fa7c4fd24314" /><Relationship Type="http://schemas.openxmlformats.org/officeDocument/2006/relationships/chart" Target="/ppt/slides/charts/chart2.xml" Id="Rd838ff3456ed466c" /><Relationship Type="http://schemas.openxmlformats.org/officeDocument/2006/relationships/notesSlide" Target="/ppt/notesSlides/notesSlide6.xml" Id="R5434028c8b2046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a0a65245c40e3" /><Relationship Type="http://schemas.openxmlformats.org/officeDocument/2006/relationships/notesSlide" Target="/ppt/notesSlides/notesSlide7.xml" Id="R0b5e3f0ed1f540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025961c8c4dcf" /><Relationship Type="http://schemas.openxmlformats.org/officeDocument/2006/relationships/notesSlide" Target="/ppt/notesSlides/notesSlide8.xml" Id="R24560430b47749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6c8ea1e144eb6" /><Relationship Type="http://schemas.openxmlformats.org/officeDocument/2006/relationships/notesSlide" Target="/ppt/notesSlides/notesSlide9.xml" Id="Rc12c0282c8ca455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Sales</c:v>
          </c:tx>
          <c:spPr>
            <a:solidFill xmlns:a="http://schemas.openxmlformats.org/drawingml/2006/main">
              <a:srgbClr val="46D6FF"/>
            </a:solidFill>
          </c:spPr>
          <c:cat>
            <c:strRef>
              <c:f>'Chart Data'!$A$2:$A$8</c:f>
              <c:strCache>
                <c:ptCount val="7"/>
                <c:pt idx="0">
                  <c:v>APAC</c:v>
                </c:pt>
                <c:pt idx="1">
                  <c:v>EU</c:v>
                </c:pt>
                <c:pt idx="2">
                  <c:v>US</c:v>
                </c:pt>
                <c:pt idx="3">
                  <c:v>LATAM</c:v>
                </c:pt>
                <c:pt idx="4">
                  <c:v>EMEA</c:v>
                </c:pt>
                <c:pt idx="5">
                  <c:v>Africa</c:v>
                </c:pt>
                <c:pt idx="6">
                  <c:v>Canada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3.586</c:v>
                </c:pt>
                <c:pt idx="1">
                  <c:v>2.483</c:v>
                </c:pt>
                <c:pt idx="2">
                  <c:v>2.288</c:v>
                </c:pt>
                <c:pt idx="3">
                  <c:v>2.151</c:v>
                </c:pt>
                <c:pt idx="4">
                  <c:v>0.775</c:v>
                </c:pt>
                <c:pt idx="5">
                  <c:v>0.763</c:v>
                </c:pt>
                <c:pt idx="6">
                  <c:v>0.066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7FBFF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35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6111F"/>
        </a:solidFill>
        <a:ln xmlns:a="http://schemas.openxmlformats.org/drawingml/2006/main" w="0">
          <a:solidFill>
            <a:srgbClr val="06111F"/>
          </a:solidFill>
          <a:prstDash val="solid"/>
        </a:ln>
      </c:spPr>
    </c:plotArea>
    <c:plotVisOnly val="1"/>
  </c:chart>
  <c:spPr>
    <a:solidFill xmlns:a="http://schemas.openxmlformats.org/drawingml/2006/main">
      <a:srgbClr val="06111F"/>
    </a:solidFill>
    <a:ln xmlns:a="http://schemas.openxmlformats.org/drawingml/2006/main" w="0">
      <a:solidFill>
        <a:srgbClr val="06111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Profit</c:v>
          </c:tx>
          <c:spPr>
            <a:solidFill xmlns:a="http://schemas.openxmlformats.org/drawingml/2006/main">
              <a:srgbClr val="45D19A"/>
            </a:solidFill>
          </c:spPr>
          <c:cat>
            <c:strRef>
              <c:f>'Chart Data'!$A$2:$A$4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'Chart Data'!$B$2:$B$4</c:f>
              <c:numCache>
                <c:formatCode>$0.0M</c:formatCode>
                <c:ptCount val="3"/>
                <c:pt idx="0">
                  <c:v>0.641</c:v>
                </c:pt>
                <c:pt idx="1">
                  <c:v>0.499</c:v>
                </c:pt>
                <c:pt idx="2">
                  <c:v>0.271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7FBFF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$0.0M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6111F"/>
        </a:solidFill>
        <a:ln xmlns:a="http://schemas.openxmlformats.org/drawingml/2006/main" w="0">
          <a:solidFill>
            <a:srgbClr val="06111F"/>
          </a:solidFill>
          <a:prstDash val="solid"/>
        </a:ln>
      </c:spPr>
    </c:plotArea>
    <c:plotVisOnly val="1"/>
  </c:chart>
  <c:spPr>
    <a:solidFill xmlns:a="http://schemas.openxmlformats.org/drawingml/2006/main">
      <a:srgbClr val="06111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9c9db890c4ded"/>
          <a:srcRect xmlns:a="http://schemas.openxmlformats.org/drawingml/2006/main" l="28819" t="0" r="288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5B9F5-A871-40CA-BA8E-70988AA0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76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F"/>
              </a:gs>
              <a:gs pos="100000">
                <a:srgbClr val="06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D7FFA-49B9-4637-A36C-8E063016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19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6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9F324-2494-4086-AF7B-9A3A525F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GLOBAL SUPERSTORE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A8D61-BE8B-4C2F-A288-79D488FF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From Data to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0A150-2AAA-4B89-915F-6CEA9AF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E7F0FA"/>
                </a:solidFill>
                <a:latin typeface="Tahoma"/>
                <a:ea typeface="Tahoma"/>
                <a:cs typeface="Tahoma"/>
              </a:rPr>
              <a:t>The analytical story of a global business, where every order is a clue to profitable growth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6AE62-1839-48AA-A292-72B5FEFB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6FF"/>
          </a:solidFill>
          <a:ln xmlns:a="http://schemas.openxmlformats.org/drawingml/2006/main" w="0">
            <a:solidFill>
              <a:srgbClr val="46D6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6B79D-75E2-49F1-9CA9-92DF0695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6111F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6111F"/>
                </a:solidFill>
                <a:latin typeface="Tahoma"/>
                <a:ea typeface="Tahoma"/>
                <a:cs typeface="Tahoma"/>
              </a:rPr>
              <a:t>DATA + BI + 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6D02F-7601-4F1F-BC9A-6E9BB567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Group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2E7A2-89CD-4F44-9767-A20A402E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Faezeh Arshadi  ·  Reyhane Chegini  ·  Mohammad Yousef Goudarzi  ·  Amirparsa Rasatalab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4DEF7-010A-4801-9390-01C8D598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286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F"/>
              </a:gs>
              <a:gs pos="78000">
                <a:srgbClr val="06111F"/>
              </a:gs>
              <a:gs pos="100000">
                <a:srgbClr val="06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25497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A0BC2-8B49-49D6-90FF-C1867593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THE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D0671-E2B8-46A8-8701-13FDA90B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Every order is more than a number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2EDC4-ABAE-446F-A697-67F6B20F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Behind every row of data sits a management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ADE44-20BA-4CDF-8D6E-EA12D4DA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C7A8E-FBD7-44E1-B88E-7464284F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D6FF">
              <a:alpha val="16000"/>
            </a:srgbClr>
          </a:solidFill>
          <a:ln xmlns:a="http://schemas.openxmlformats.org/drawingml/2006/main" w="19050">
            <a:solidFill>
              <a:srgbClr val="46D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5BE54-6389-4539-AC3D-31337D83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38425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8FDB1-B3DB-47AD-BF53-0E5CB76E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Market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6EADD-E3F1-4748-BA9E-252E2022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7195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Which market has the strongest investment potential?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CD31F-A725-4F5B-83EF-A9B3A8D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52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624BA-B7F4-472D-8E3C-3E8E15E2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19A">
              <a:alpha val="16000"/>
            </a:srgbClr>
          </a:solidFill>
          <a:ln xmlns:a="http://schemas.openxmlformats.org/drawingml/2006/main" w="19050">
            <a:solidFill>
              <a:srgbClr val="45D1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15483-E63C-4C85-939A-CEAA88B7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38425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45D19A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45D19A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E0E81-252D-44A5-8F6B-1EE65351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14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Profit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D563F-1D9C-4972-812B-FDE1EC1D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7195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Which products and categories create real value?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650BD-1406-4AC0-A8F8-ED7EC7B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52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B5217-8F7C-4926-BA19-A73E94A5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28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>
              <a:alpha val="16000"/>
            </a:srgbClr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454F0-6F5A-49E6-AA10-F3F9E1B0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38425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FFC857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FC857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57639-DD1B-4F90-9132-4C6EEA7F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14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Shipping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81948-9C67-423E-9108-422CC9D3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7195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What does delivery speed cost the business?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138BF-EC68-4958-9C3E-11FD6507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52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F37BC-883E-4468-9C1C-95AC2801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28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>
              <a:alpha val="16000"/>
            </a:srgbClr>
          </a:solidFill>
          <a:ln xmlns:a="http://schemas.openxmlformats.org/drawingml/2006/main" w="19050">
            <a:solidFill>
              <a:srgbClr val="9B7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594D0-4136-4305-AD47-9BC54FE2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38425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9B7B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9B7B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024B9-1E57-4B33-8D7A-957DC997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Prediction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D8CDC-034E-40A4-AE03-0AB0773C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7195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Can profit and shipping mode be predicted in advance?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16EC4-7106-4803-9DD2-B848BB43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Project goal: turn raw data into a shared language for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39421E-67B6-48BB-AE8D-2BDB8F15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2D874-34D3-44BE-9B88-5A145688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GLOBAL SUPERSTORE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36C733-606A-451E-8D7C-136532F4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3018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A8878C-FCBC-4A8D-BDC7-3DFC3BDE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THE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275AB-841F-4790-AD04-EF1C46E0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From six source tables to one business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A3F1F-4E9C-4B92-93DC-36FF532E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Product, customer, order and shipment data connect into one analytical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9E1F7-075F-49D5-87EB-56D100BA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49,670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32101-D34B-4DB9-A638-116820F2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sales 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9FF42-C141-47B5-9FA9-A0997244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B7BFF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9B7BFF"/>
                </a:solidFill>
                <a:latin typeface="Tahoma"/>
                <a:ea typeface="Tahoma"/>
                <a:cs typeface="Tahoma"/>
              </a:rPr>
              <a:t>25,033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FDB24-7143-4B26-BF14-88BFEEC4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33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orders &amp; shipments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51822-508F-4425-AF69-42268258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383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45D19A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45D19A"/>
                </a:solidFill>
                <a:latin typeface="Tahoma"/>
                <a:ea typeface="Tahoma"/>
                <a:cs typeface="Tahoma"/>
              </a:rPr>
              <a:t>10,246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2F7DA-FBA0-44EE-9EFD-9BC28D38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33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09D82-53AB-405A-8FFF-91343D0F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383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FC857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FFC857"/>
                </a:solidFill>
                <a:latin typeface="Tahoma"/>
                <a:ea typeface="Tahoma"/>
                <a:cs typeface="Tahoma"/>
              </a:rPr>
              <a:t>1,589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D012D-5ADF-4016-BC8E-917F74FD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33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customers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442C1-8E66-4092-AEEF-BC8EADB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383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F7A7A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FF7A7A"/>
                </a:solidFill>
                <a:latin typeface="Tahoma"/>
                <a:ea typeface="Tahoma"/>
                <a:cs typeface="Tahoma"/>
              </a:rPr>
              <a:t>144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531C9-6EA4-4DB3-8BED-C0D2DD3D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countries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64954-24C8-4F4F-B4FA-0F12DE8B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122DD-D8BA-43A0-BEE2-361D17CD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381125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6D6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FC44A-06D9-4083-8781-2DE7FB55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BC0FF-078E-4CFC-8427-47CFE0DD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476750"/>
            <a:ext cx="1381125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9B7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AC81C-1E25-40F1-BD56-F73C47E0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57200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customer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E9B62-0A27-4760-9536-B4D2451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1381125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5D1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9D6AF-E473-494B-A32B-40DB7172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7200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52B39-9D00-4DA9-955E-341D67CD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76750"/>
            <a:ext cx="1381125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C3594-2862-4D2E-B255-FD334AAA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7200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order_detail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81DB4-8BB6-48F9-AE50-F6C34FC7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1381125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FF7A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439FC-74A7-4C85-BA64-DC0D2A72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7200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returned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EB4F8-CFE8-4898-A2F8-7428C1DE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76750"/>
            <a:ext cx="1381125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6D6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420BB-B209-4664-9CB5-A4256D6C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572000"/>
            <a:ext cx="1114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shipping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2504A5-11E1-4694-81B6-5E5A6533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Project SQL source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EF390-2198-4D33-BDFD-BF706C7F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This volume of data becomes valuable when a coherent data model makes it queryable.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C812B1-FCA5-4377-AA07-3ED58E8E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7FD079-F2A2-42BB-8C9A-89360AB4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GLOBAL SUPERSTORE ANALYTICS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B277D-AA14-4B1A-913A-237CBDD4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5678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F11C9-5490-4BCC-982C-CED9C399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DATA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7AA30-5B58-43E8-B52D-F67788D3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FactSales is the analytical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64D6C-9D9D-44F0-8578-36FC1865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Each FactSales row represents one product line within an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AC819-E2C4-472C-A408-0FC2DC4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2571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6D6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15B13-0118-4E79-9AC2-E3955F0D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952750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FactSales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Sales · Quantity · Profit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Discount · Shipping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9F5FD-D8F9-4321-8F6C-B6449C77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1714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5D1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742AB-3549-4C81-BE7D-9C8AA598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DimProduct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B4E7F-0052-4CC2-97A9-13F3C03C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0325"/>
            <a:ext cx="185737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C2997-B42E-45F6-979C-48BADB26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1714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9B7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53211-2BA4-4988-B6C3-B0FA15FB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6212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DimCustomer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5A174-D98E-441D-A297-C7BAF93F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9325"/>
            <a:ext cx="428625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E9E36-7EE4-4536-920F-95BDB33D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1714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11EC4-56A5-4E8F-AB2A-8C191E34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6212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DimDate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4524C-7A6C-461C-A71E-0FF0E6A6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19325"/>
            <a:ext cx="142875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40882-35F8-4A69-9560-84DB47D0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47875"/>
            <a:ext cx="1714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FF7A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BFF36-4684-4D52-B057-6657B616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4312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DimGeography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08F8F-7BEC-4709-8EFD-E9FBB35F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00325"/>
            <a:ext cx="242887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4AD48-A035-4DEE-A986-D3DB8875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1714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6D6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629C0-E552-4F9E-9DA0-95021152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1487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DimShipMode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B568C-F5D8-4FB7-9A64-1D043795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86200"/>
            <a:ext cx="1571625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61EAB-C92A-4A23-9F0C-537134D7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1714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5D1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A0AA2-D85B-4C56-A6A9-482AFBF2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4350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DimMarket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07FCE-5486-4396-BE4D-E9721388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86200"/>
            <a:ext cx="100012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A2F56-F97D-40EC-B4DC-2E4C12A2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1714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9B7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6E6B62-BC51-40F1-94CD-4E1CEEFF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4350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DimOrderPriority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0D971-8D0F-4055-917C-FA0ACF22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86200"/>
            <a:ext cx="23812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EB6BFB-6787-4907-B4D1-D6E2C4BC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19625"/>
            <a:ext cx="1714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3776BD-96A3-41DA-AA7F-9789A1D9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14875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Returned / Shipping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B0F1FD-CD9E-44E6-B584-18C0A666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86200"/>
            <a:ext cx="2619375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0AE00-E5E3-4E2C-B949-C6C6F354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One data model, many decision lenses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355E91-849E-4201-91A7-98F9F062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1FF99B-15C7-49FB-81FF-360A766F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GLOBAL SUPERSTORE 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61D20E-F811-4F51-BE38-50A0E102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cxnSp>
        <p:nvCxnSpPr>
          <p:cNvPr id="76" name=""/>
          <p:cNvCxnSpPr>
            <a:stCxn xmlns:a="http://schemas.openxmlformats.org/drawingml/2006/main" id="6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52750" y="2324100"/>
            <a:ext cx="185737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19A"/>
            </a:solidFill>
            <a:prstDash val="solid"/>
          </a:ln>
        </p:spPr>
      </p:cxnSp>
      <p:cxnSp>
        <p:nvCxnSpPr>
          <p:cNvPr id="77" name=""/>
          <p:cNvCxnSpPr>
            <a:stCxn xmlns:a="http://schemas.openxmlformats.org/drawingml/2006/main" id="9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4381500" y="2219325"/>
            <a:ext cx="171450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7BFF"/>
            </a:solidFill>
            <a:prstDash val="solid"/>
          </a:ln>
        </p:spPr>
      </p:cxnSp>
      <p:cxnSp>
        <p:nvCxnSpPr>
          <p:cNvPr id="78" name=""/>
          <p:cNvCxnSpPr>
            <a:stCxn xmlns:a="http://schemas.openxmlformats.org/drawingml/2006/main" id="1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096000" y="2219325"/>
            <a:ext cx="228600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857"/>
            </a:solidFill>
            <a:prstDash val="solid"/>
          </a:ln>
        </p:spPr>
      </p:cxnSp>
      <p:cxnSp>
        <p:nvCxnSpPr>
          <p:cNvPr id="79" name=""/>
          <p:cNvCxnSpPr>
            <a:stCxn xmlns:a="http://schemas.openxmlformats.org/drawingml/2006/main" id="1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381875" y="2324100"/>
            <a:ext cx="242887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7A"/>
            </a:solidFill>
            <a:prstDash val="solid"/>
          </a:ln>
        </p:spPr>
      </p:cxnSp>
      <p:cxnSp>
        <p:nvCxnSpPr>
          <p:cNvPr id="80" name=""/>
          <p:cNvCxnSpPr>
            <a:stCxn xmlns:a="http://schemas.openxmlformats.org/drawingml/2006/main" id="1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238500" y="3371850"/>
            <a:ext cx="1571625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D6FF"/>
            </a:solidFill>
            <a:prstDash val="solid"/>
          </a:ln>
        </p:spPr>
      </p:cxnSp>
      <p:cxnSp>
        <p:nvCxnSpPr>
          <p:cNvPr id="81" name=""/>
          <p:cNvCxnSpPr>
            <a:stCxn xmlns:a="http://schemas.openxmlformats.org/drawingml/2006/main" id="21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4953000" y="3886200"/>
            <a:ext cx="114300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19A"/>
            </a:solidFill>
            <a:prstDash val="solid"/>
          </a:ln>
        </p:spPr>
      </p:cxnSp>
      <p:cxnSp>
        <p:nvCxnSpPr>
          <p:cNvPr id="82" name=""/>
          <p:cNvCxnSpPr>
            <a:stCxn xmlns:a="http://schemas.openxmlformats.org/drawingml/2006/main" id="24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6096000" y="3886200"/>
            <a:ext cx="238125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7BFF"/>
            </a:solidFill>
            <a:prstDash val="solid"/>
          </a:ln>
        </p:spPr>
      </p:cxnSp>
      <p:cxnSp>
        <p:nvCxnSpPr>
          <p:cNvPr id="83" name=""/>
          <p:cNvCxnSpPr>
            <a:stCxn xmlns:a="http://schemas.openxmlformats.org/drawingml/2006/main" id="27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381875" y="3371850"/>
            <a:ext cx="2619375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857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7635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E71BD-210E-4537-A391-DB0A8417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INSIGHT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1979F-9A9A-441B-964C-64D8403E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Sales scale is not equal across markets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97B44-D164-4F45-9D10-F2A28953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Total Sales in the project's prepared data, by market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723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a02f72c78c4a7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84C9D-CA3A-4ECE-AC60-1D3EBBF9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Sales ($M)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5793D-BBA3-4F80-8904-9AA80E64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6D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48D17-3C2E-41F6-83CF-5DD429A3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APAC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C012C-CD67-41F7-BC7D-DFAFF1E0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$3.59M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6A7E1-B532-4419-B3D8-67A32EA8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Highest Sales in this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3A984-2884-4BCA-B123-5D80D0B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Decision question: which market has the greatest growth and investment potential?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F037F-D58B-49E6-BCDF-29D55AAD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4F828-05B0-4412-BB22-0BC1FF95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GLOBAL SUPERSTORE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FDEDE-1791-47F9-990C-C6858CB6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3444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BBDED-38DF-41DA-ABCF-696C41DB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INSIGHT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AAF89-0113-418F-A8F5-9A733F9A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Higher sales do not always mean higher profit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4DB34-39C5-4159-BB79-67009455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Two lenses: profitable mix and delivery experience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4857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38ff3456ed466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C7D15-0654-4951-86F0-A9219059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5D19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5D19A"/>
                </a:solidFill>
                <a:latin typeface="Tahoma"/>
                <a:ea typeface="Tahoma"/>
                <a:cs typeface="Tahoma"/>
              </a:rPr>
              <a:t>Profit by category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CA720-C5E9-4402-A3F7-7526E58B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953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9525">
            <a:solidFill>
              <a:srgbClr val="2943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1539A-DBC2-49B3-8DCC-5D688AF1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5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C857"/>
                </a:solidFill>
                <a:latin typeface="Tahoma"/>
                <a:ea typeface="Tahoma"/>
                <a:cs typeface="Tahoma"/>
              </a:rPr>
              <a:t>Average shipping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15246-6F09-4D0A-AEAC-3674F3C3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E7F0FA"/>
                </a:solidFill>
                <a:latin typeface="Tahoma"/>
                <a:ea typeface="Tahoma"/>
                <a:cs typeface="Tahoma"/>
              </a:rPr>
              <a:t>Same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4A064-51A3-457F-9D2F-D8A83DA1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67050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06F89-06FD-4426-ABD7-871EABC4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67050"/>
            <a:ext cx="15621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6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10CDC-6770-4A54-A924-6042228B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13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0.04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E5804-F60E-496C-AD88-B74616CF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05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E7F0FA"/>
                </a:solidFill>
                <a:latin typeface="Tahoma"/>
                <a:ea typeface="Tahoma"/>
                <a:cs typeface="Tahoma"/>
              </a:rPr>
              <a:t>First Class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D8461-E640-4DCC-9B0E-790524C0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71875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324A8-CF13-49A4-9348-D7612734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71875"/>
            <a:ext cx="855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19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021A2-A54D-40DA-9183-744B88B3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861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45D19A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45D19A"/>
                </a:solidFill>
                <a:latin typeface="Tahoma"/>
                <a:ea typeface="Tahoma"/>
                <a:cs typeface="Tahoma"/>
              </a:rPr>
              <a:t>2.19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498DC-BE62-4F08-A37A-C740E142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10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E7F0FA"/>
                </a:solidFill>
                <a:latin typeface="Tahoma"/>
                <a:ea typeface="Tahoma"/>
                <a:cs typeface="Tahoma"/>
              </a:rPr>
              <a:t>Second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A78A1-3415-4ACD-8263-FF4230C4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76700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95DA0-E436-472F-A6E8-9ADA7782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76700"/>
            <a:ext cx="1265301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CFDF1-E976-4F6F-A31E-CCCE0605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909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9B7B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9B7BFF"/>
                </a:solidFill>
                <a:latin typeface="Tahoma"/>
                <a:ea typeface="Tahoma"/>
                <a:cs typeface="Tahoma"/>
              </a:rPr>
              <a:t>3.24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35069-1406-499C-9268-8F2A3621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E7F0FA"/>
                </a:solidFill>
                <a:latin typeface="Tahoma"/>
                <a:ea typeface="Tahoma"/>
                <a:cs typeface="Tahoma"/>
              </a:rPr>
              <a:t>Standard Class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96FCF-01BE-4A72-BC78-C710650B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81525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5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FF637-DBE8-495B-BD00-F4D79887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81525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7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020C9-3381-4806-A6DB-F5619EC3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95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7A7A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7A7A"/>
                </a:solidFill>
                <a:latin typeface="Tahoma"/>
                <a:ea typeface="Tahoma"/>
                <a:cs typeface="Tahoma"/>
              </a:rPr>
              <a:t>5.00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2E3991-C8D6-4CEC-B09D-82BAEC37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Better decisions come from seeing revenue and cost together.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D0AAA3-CE52-4D4D-9A40-5F05D6DF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13BE4-A133-4177-A649-78D2B3F6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GLOBAL SUPERSTORE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1E09C-2C24-4B7B-AF34-2BC90AD6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3707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39D145-3EE9-422C-B5FC-DF59A01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MACHINE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3E3DA-4C2A-4C08-B19B-9BEF57C8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When patterns repeat, we can see ahead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5C2FC-FD4C-4C49-B601-10FA75EB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The model uses order features to estimate Ship Mode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CFD28-F975-426D-8D56-49185572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95750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9B7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8C028-E32B-4000-880E-A3FF0F28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9B7B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9B7BFF"/>
                </a:solidFill>
                <a:latin typeface="Tahoma"/>
                <a:ea typeface="Tahoma"/>
                <a:cs typeface="Tahoma"/>
              </a:rPr>
              <a:t>XGBoost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64268-5EAE-475C-9557-9B6ADA9C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Model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B5B52-ADE9-4A31-979B-76A2312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85.8%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7E9EE-7574-4E61-9E80-27C7B3FA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on the recorded test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DC3F9-6A89-467E-BE7B-F5FE10A0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479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13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Goal: support service and shipping-capacity 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0DCD5-8D27-4BC3-8828-59DC02FA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67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E7F0FA"/>
                </a:solidFill>
                <a:latin typeface="Tahoma"/>
                <a:ea typeface="Tahoma"/>
                <a:cs typeface="Tahoma"/>
              </a:rPr>
              <a:t>First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1F1CC-072F-45C9-B678-BF8310A5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5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02C62-3668-44E6-97E3-4C1DAAD8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22002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6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25AAD-1491-44C5-8672-86A20069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480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0.77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54DDA-B609-4DE9-BC56-E46828E6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E7F0FA"/>
                </a:solidFill>
                <a:latin typeface="Tahoma"/>
                <a:ea typeface="Tahoma"/>
                <a:cs typeface="Tahoma"/>
              </a:rPr>
              <a:t>Same 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147D8-CB9F-4F67-B576-532EBA4C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9570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EA31F-312C-48D4-9F22-F336BAD2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95700"/>
            <a:ext cx="2800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19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0E022-908A-4CC8-A37A-3B459EB4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6004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0.98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63509-E495-47AE-8FF8-EB38A1CC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71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E7F0FA"/>
                </a:solidFill>
                <a:latin typeface="Tahoma"/>
                <a:ea typeface="Tahoma"/>
                <a:cs typeface="Tahoma"/>
              </a:rPr>
              <a:t>Second Class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C0354-9579-4820-885A-627F562D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4815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D808E-828A-4CC7-B6E9-0A8DBD68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48150"/>
            <a:ext cx="16287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3FDBA-DCFF-478A-B2DA-B4290809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529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0.57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24B80-612C-4024-B1AF-3851F370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24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E7F0FA"/>
                </a:solidFill>
                <a:latin typeface="Tahoma"/>
                <a:ea typeface="Tahoma"/>
                <a:cs typeface="Tahoma"/>
              </a:rPr>
              <a:t>Standard Class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5785A-D6AF-4449-977B-7AE95034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0060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35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65FF5-0C16-44AB-AA05-F0EAC81C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00600"/>
            <a:ext cx="2686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D8C4C-C0D6-4BAE-9FA3-685FF080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053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0.94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33F2A9-909F-4AC0-8943-A1EA1936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19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4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Next path: Profit Regression to predict profit for each sales 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384D2-4B13-4B0C-833A-730711BA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C1593B-046F-43B8-B177-1710DDEB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GLOBAL SUPERSTORE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CC6D5-8E7A-41CD-B439-A90B2C1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2509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A73DA-5B9E-4BF0-8831-EB72CD82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THE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544F0-7D22-4C24-997E-F741DE07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One dashboard, four decision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E2293-5F10-43E7-BC34-C091DEDD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Power BI connects statistical analysis, the data model and ML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F5B36-37B4-447E-9EDB-16D060A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6D6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EB2E2-C2EF-432B-B7B3-8CD59239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POWER BI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EXECUTIVE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E9D8E-F7EF-4C51-9607-169ABB6A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476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6D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A3646-B5C9-47EE-B774-6A6F66DB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Market &amp; investment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D2442-1C51-40A7-A150-7CD0F0D4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1238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6DF37-7214-4534-9488-2A5BCBAF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476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45D1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F6021-1687-41E5-84FB-A334325C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Profit &amp; product mix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47832-54CC-4C14-BA05-042C0F3F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12382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EABF3-F13F-4EBE-9135-0A6217E6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476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6C83F-1CE1-4966-9EB4-5FAC5F9D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Shipping cost &amp; speed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F764F-D0D3-46F7-A155-5BBF10DB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9875"/>
            <a:ext cx="11430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0F623-E14B-4774-8CC9-8D9D3B68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476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19050">
            <a:solidFill>
              <a:srgbClr val="9B7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2D135-5C97-470D-9A7E-0F914169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7675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Prediction &amp;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2AE22-378B-4070-9298-0855586F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1143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4EEE7-A8D2-4B2A-925D-BFE41B06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From “What happened?” to “What should we decide now?”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3D609-A81D-4D79-A053-EDFCE598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D0FE3-FDF5-434B-93EA-56FB570D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GLOBAL SUPERSTORE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F8CEE-B225-422D-A86F-40650B89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24250" y="2476500"/>
            <a:ext cx="12382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D6FF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524250" y="3333750"/>
            <a:ext cx="123825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19A"/>
            </a:solidFill>
            <a:prstDash val="solid"/>
          </a:ln>
        </p:spPr>
      </p:cxnSp>
      <p:cxnSp>
        <p:nvCxnSpPr>
          <p:cNvPr id="50" name=""/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429500" y="2476500"/>
            <a:ext cx="11430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857"/>
            </a:solidFill>
            <a:prstDash val="solid"/>
          </a:ln>
        </p:spPr>
      </p:cxnSp>
      <p:cxnSp>
        <p:nvCxnSpPr>
          <p:cNvPr id="51" name=""/>
          <p:cNvCxnSpPr>
            <a:stCxn xmlns:a="http://schemas.openxmlformats.org/drawingml/2006/main" id="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429500" y="3333750"/>
            <a:ext cx="11430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7BFF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438742059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11F"/>
            </a:gs>
            <a:gs pos="65000">
              <a:srgbClr val="0B1E33"/>
            </a:gs>
            <a:gs pos="100000">
              <a:srgbClr val="1B1550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C5AC6-EBBE-4813-91BF-300B533C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857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6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9A999-72CD-496D-81AF-7AA92F80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6D6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46D6FF"/>
                </a:solidFill>
                <a:latin typeface="Tahoma"/>
                <a:ea typeface="Tahoma"/>
                <a:cs typeface="Tahoma"/>
              </a:rPr>
              <a:t>OPENING 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1A835-DA4A-4BBF-B64A-FB1E6911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The data is ready.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Now the decision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0E7CF-B05C-408F-8F9D-BB081471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7F0F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E7F0FA"/>
                </a:solidFill>
                <a:latin typeface="Tahoma"/>
                <a:ea typeface="Tahoma"/>
                <a:cs typeface="Tahoma"/>
              </a:rPr>
              <a:t>Global Superstore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63499-535E-4211-9396-E045FCFC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CB2C8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9CB2C8"/>
                </a:solidFill>
                <a:latin typeface="Tahoma"/>
                <a:ea typeface="Tahoma"/>
                <a:cs typeface="Tahoma"/>
              </a:rPr>
              <a:t>Faezeh Arshadi  ·  Reyhane Chegini  ·  Mohammad Yousef Goudarzi  ·  Amirparsa Rasatalab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F96CD-C6AF-4BC9-82E0-73B7D4C7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9B7B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25290-9BDA-4C11-AB13-0996D28E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github.com/nonRasa/global-superstore-analytics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8FF93-ACC9-4772-8B2F-8C14C51D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67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F7FB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7FBFF"/>
                </a:solidFill>
                <a:latin typeface="Tahoma"/>
                <a:ea typeface="Tahoma"/>
                <a:cs typeface="Tahom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36846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2026-09-17T11:05:19.7520000Z</dcterms:created>
  <dcterms:modified xsi:type="dcterms:W3CDTF">2026-09-17T11:05:19.7520000Z</dcterms:modified>
</coreProperties>
</file>